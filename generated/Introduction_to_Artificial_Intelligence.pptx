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concept of Artificial Intelligence, it's essential to recognize its growing presence in our daily lives, from virtual assistants like Siri and Alexa to self-driving cars. Emphasize the transformative power of AI in automating tasks, enhancing decision-making, and driving innovation. You can use examples like chatbots in customer service or AI-powered medical diagnosis to illustrate the technology's potential and encourage the audience to think about its applications in their own industries. Be sure to highlight the importance of responsible AI development and its potential to augment human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concept of Artificial Intelligence, it's essential to understand that we're talking about computers that can think and act like humans, taking on tasks such as learning, problem-solving, and decision-making. Emphasize the idea that these are tasks that typically require human intelligence, making AI a significant advancement in technology. For example, you can mention virtual assistants like Siri or Alexa, which use AI to understand voice commands and respond accordingly, illustrating how AI is already a part of our daily lives. Be sure to pause and ask the audience if they have any experience with AI-powered devices to encourage engagement and make the concept more relatable.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applications of AI, let's start with healthcare, where AI is being used to improve medical diagnosis and personalized medicine, for example, helping doctors analyze medical images to detect diseases earlier. In finance, AI is transforming risk management and portfolio optimization, enabling companies to make more informed investment decisions. Emphasize the potential of autonomous vehicles in transportation, and how route optimization can reduce congestion and improve safety, such as traffic management systems that adjust traffic light timings in real-time to minimize congestion.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need for AI, let's consider how it can automate repetitive tasks, freeing up valuable time and resources for more strategic work. Emphasize the improved decision-making aspect, highlighting how AI can analyze vast amounts of data to provide actionable insights, and use examples like chatbots or predictive analytics to illustrate this point. When discussing enhanced customer experience, focus on the personalization and efficiency that AI can bring, such as tailored product recommendations or streamlined customer service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advantages and disadvantages of AI, let's start with the benefits - increased efficiency, improved accuracy, and enhanced decision-making are all significant positives that can transform businesses and industries. When discussing these points, emphasize how AI can automate repetitive tasks and provide data-driven insights that inform strategic decisions. On the other hand, be sure to acknowledge the potential drawbacks, such as job displacement and bias in decision-making, and consider using examples like self-driving cars or facial recognition technology to illustrate the complexities of AI adoption. By weighing these pros and cons, we can better understand the importance of responsible AI development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misuse of AI, let's start with the alarming rise of deepfakes and disinformation, which can have serious consequences for individuals and society. Emphasize the potential for cyber attacks and data breaches to compromise sensitive information, and highlight the surveillance and privacy concerns that come with the increased use of AI-powered technologies. For example, you could mention how deepfakes have been used to create fake news clips or how AI-powered surveillance systems can be used to monitor people without their consent. Be sure to stress the importance of being aware of these potential misuses and taking steps to mitigate their impact.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take a look at the history of AI, let's start with the Dartmouth Summer Research Project in 1950, which is often considered the birthplace of AI as a field of study. Emphasize the significance of ELIZA, the first AI program developed in 1960, and how it was able to simulate human-like conversations, showcasing the potential of AI even back then. When discussing the 1980s, highlight the rise of expert systems and rule-based reasoning, and how these technologies were used in real-world applications, such as medical diagnosis and financial analysis. As we jump to 2010, note the major breakthroughs in deep learning and neural networks, which have enabled many of the AI capabilities we see today, from virtual assistants to self-driving cars.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explore the role of AI in daily life, it's essential to highlight how artificial intelligence is seamlessly integrated into our routines, often going unnoticed. Emphasize the idea that AI is not just about futuristic robots, but about the subtle ways it enhances our everyday experiences, such as virtual assistants like Siri or Alexa. You can also mention how AI-powered tools, like language translation apps or personalized product recommendations, have become indispensable in our personal and professional lives. By sharing these relatable examples, you can make the concept of AI more accessible and engaging for your audience.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wrap up, let's emphasize that AI is a game-changer with the potential to transform industries and our daily lives, from healthcare to transportation. However, it's essential to acknowledge the challenges and concerns that come with AI, such as job displacement and data privacy, and highlight the need for responsible development and implementation. You can pause here to give a brief example, like self-driving cars, to illustrate the balance between benefits and concerns. By addressing these challenges, we can harness the power of AI to create a better future.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come to a close, take a moment to sincerely express your gratitude to the audience for their time and attention. Emphasize the appreciation you have for the opportunity to share your ideas and insights with them. You can also use this moment to leave a lasting impression by reiterating the key takeaway or call to action from your presentation, such as encouraging them to visit your website or follow up with you directly. Be genuine and heartfelt in your thank you, as this will leave a positive and lasting impression on your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828800"/>
            <a:ext cx="10820095" cy="1371600"/>
          </a:xfrm>
          <a:prstGeom prst="rect">
            <a:avLst/>
          </a:prstGeom>
          <a:noFill/>
        </p:spPr>
        <p:txBody>
          <a:bodyPr wrap="square">
            <a:spAutoFit/>
          </a:bodyPr>
          <a:lstStyle/>
          <a:p>
            <a:pPr algn="ctr">
              <a:defRPr sz="4400" b="1">
                <a:solidFill>
                  <a:srgbClr val="1A365D"/>
                </a:solidFill>
                <a:latin typeface="Calibri"/>
              </a:defRPr>
            </a:pPr>
            <a:r>
              <a:t>Artificial Intelligence</a:t>
            </a:r>
          </a:p>
        </p:txBody>
      </p:sp>
      <p:sp>
        <p:nvSpPr>
          <p:cNvPr id="3" name="TextBox 2"/>
          <p:cNvSpPr txBox="1"/>
          <p:nvPr/>
        </p:nvSpPr>
        <p:spPr>
          <a:xfrm>
            <a:off x="685800" y="3474720"/>
            <a:ext cx="10820095" cy="914400"/>
          </a:xfrm>
          <a:prstGeom prst="rect">
            <a:avLst/>
          </a:prstGeom>
          <a:noFill/>
        </p:spPr>
        <p:txBody>
          <a:bodyPr wrap="square">
            <a:spAutoFit/>
          </a:bodyPr>
          <a:lstStyle/>
          <a:p>
            <a:pPr algn="ctr">
              <a:defRPr sz="2200" b="0">
                <a:solidFill>
                  <a:srgbClr val="3182CE"/>
                </a:solidFill>
                <a:latin typeface="Calibri"/>
              </a:defRPr>
            </a:pPr>
            <a:r>
              <a:t>Understanding AI and its Implications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What is AI?</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2D3748"/>
                </a:solidFill>
                <a:latin typeface="Calibri"/>
              </a:defRPr>
            </a:pPr>
            <a:r>
              <a:t>Artificial Intelligence refers to the development of computer systems that can perform tasks that typically require human intelligence.</a:t>
            </a:r>
          </a:p>
          <a:p>
            <a:pPr>
              <a:spcAft>
                <a:spcPts val="800"/>
              </a:spcAft>
              <a:defRPr sz="1800">
                <a:solidFill>
                  <a:srgbClr val="2D3748"/>
                </a:solidFill>
                <a:latin typeface="Calibri"/>
              </a:defRPr>
            </a:pPr>
            <a:r>
              <a:t>These tasks include learning, problem-solving, decision-making, and perception.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Applications of AI</a:t>
            </a:r>
          </a:p>
        </p:txBody>
      </p:sp>
      <p:sp>
        <p:nvSpPr>
          <p:cNvPr id="3" name="TextBox 2"/>
          <p:cNvSpPr txBox="1"/>
          <p:nvPr/>
        </p:nvSpPr>
        <p:spPr>
          <a:xfrm>
            <a:off x="685800" y="1554480"/>
            <a:ext cx="5029200" cy="4572000"/>
          </a:xfrm>
          <a:prstGeom prst="rect">
            <a:avLst/>
          </a:prstGeom>
          <a:noFill/>
        </p:spPr>
        <p:txBody>
          <a:bodyPr wrap="square">
            <a:spAutoFit/>
          </a:bodyPr>
          <a:lstStyle/>
          <a:p>
            <a:pPr>
              <a:spcAft>
                <a:spcPts val="800"/>
              </a:spcAft>
              <a:defRPr sz="1800">
                <a:solidFill>
                  <a:srgbClr val="2D3748"/>
                </a:solidFill>
                <a:latin typeface="Calibri"/>
              </a:defRPr>
            </a:pPr>
            <a:r>
              <a:t>Healthcare: medical diagnosis, personalized medicine</a:t>
            </a:r>
          </a:p>
          <a:p>
            <a:pPr>
              <a:spcAft>
                <a:spcPts val="800"/>
              </a:spcAft>
              <a:defRPr sz="1800">
                <a:solidFill>
                  <a:srgbClr val="2D3748"/>
                </a:solidFill>
                <a:latin typeface="Calibri"/>
              </a:defRPr>
            </a:pPr>
            <a:r>
              <a:t>Finance: risk management, portfolio optimization</a:t>
            </a:r>
          </a:p>
          <a:p>
            <a:pPr>
              <a:spcAft>
                <a:spcPts val="800"/>
              </a:spcAft>
              <a:defRPr sz="1800">
                <a:solidFill>
                  <a:srgbClr val="2D3748"/>
                </a:solidFill>
                <a:latin typeface="Calibri"/>
              </a:defRPr>
            </a:pPr>
            <a:r>
              <a:t>Transportation: autonomous vehicles, route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Need for AI</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2D3748"/>
                </a:solidFill>
                <a:latin typeface="Calibri"/>
              </a:defRPr>
            </a:pPr>
            <a:r>
              <a:t>Automation of repetitive tasks</a:t>
            </a:r>
          </a:p>
          <a:p>
            <a:pPr>
              <a:spcAft>
                <a:spcPts val="800"/>
              </a:spcAft>
              <a:defRPr sz="1800">
                <a:solidFill>
                  <a:srgbClr val="2D3748"/>
                </a:solidFill>
                <a:latin typeface="Calibri"/>
              </a:defRPr>
            </a:pPr>
            <a:r>
              <a:t>Improved decision-making</a:t>
            </a:r>
          </a:p>
          <a:p>
            <a:pPr>
              <a:spcAft>
                <a:spcPts val="800"/>
              </a:spcAft>
              <a:defRPr sz="1800">
                <a:solidFill>
                  <a:srgbClr val="2D3748"/>
                </a:solidFill>
                <a:latin typeface="Calibri"/>
              </a:defRPr>
            </a:pPr>
            <a:r>
              <a:t>Enhanced customer experience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Advantages and Disadvantages of AI</a:t>
            </a:r>
          </a:p>
        </p:txBody>
      </p:sp>
      <p:sp>
        <p:nvSpPr>
          <p:cNvPr id="3" name="TextBox 2"/>
          <p:cNvSpPr txBox="1"/>
          <p:nvPr/>
        </p:nvSpPr>
        <p:spPr>
          <a:xfrm>
            <a:off x="685800" y="1097280"/>
            <a:ext cx="5029200" cy="365760"/>
          </a:xfrm>
          <a:prstGeom prst="rect">
            <a:avLst/>
          </a:prstGeom>
          <a:noFill/>
        </p:spPr>
        <p:txBody>
          <a:bodyPr wrap="square">
            <a:spAutoFit/>
          </a:bodyPr>
          <a:lstStyle/>
          <a:p>
            <a:pPr algn="l">
              <a:defRPr sz="1800" b="1">
                <a:solidFill>
                  <a:srgbClr val="3182CE"/>
                </a:solidFill>
                <a:latin typeface="Calibri"/>
              </a:defRPr>
            </a:pPr>
            <a:r>
              <a:t>Left</a:t>
            </a:r>
          </a:p>
        </p:txBody>
      </p:sp>
      <p:sp>
        <p:nvSpPr>
          <p:cNvPr id="4" name="TextBox 3"/>
          <p:cNvSpPr txBox="1"/>
          <p:nvPr/>
        </p:nvSpPr>
        <p:spPr>
          <a:xfrm>
            <a:off x="685800" y="1554480"/>
            <a:ext cx="5029200" cy="4114800"/>
          </a:xfrm>
          <a:prstGeom prst="rect">
            <a:avLst/>
          </a:prstGeom>
          <a:noFill/>
        </p:spPr>
        <p:txBody>
          <a:bodyPr wrap="square">
            <a:spAutoFit/>
          </a:bodyPr>
          <a:lstStyle/>
          <a:p>
            <a:pPr>
              <a:spcAft>
                <a:spcPts val="800"/>
              </a:spcAft>
              <a:defRPr sz="1800">
                <a:solidFill>
                  <a:srgbClr val="2D3748"/>
                </a:solidFill>
                <a:latin typeface="Calibri"/>
              </a:defRPr>
            </a:pPr>
            <a:r>
              <a:t>Increased efficiency</a:t>
            </a:r>
          </a:p>
          <a:p>
            <a:pPr>
              <a:spcAft>
                <a:spcPts val="800"/>
              </a:spcAft>
              <a:defRPr sz="1800">
                <a:solidFill>
                  <a:srgbClr val="2D3748"/>
                </a:solidFill>
                <a:latin typeface="Calibri"/>
              </a:defRPr>
            </a:pPr>
            <a:r>
              <a:t>Improved accuracy</a:t>
            </a:r>
          </a:p>
          <a:p>
            <a:pPr>
              <a:spcAft>
                <a:spcPts val="800"/>
              </a:spcAft>
              <a:defRPr sz="1800">
                <a:solidFill>
                  <a:srgbClr val="2D3748"/>
                </a:solidFill>
                <a:latin typeface="Calibri"/>
              </a:defRPr>
            </a:pPr>
            <a:r>
              <a:t>Enhanced decision-making</a:t>
            </a:r>
          </a:p>
        </p:txBody>
      </p:sp>
      <p:sp>
        <p:nvSpPr>
          <p:cNvPr id="5" name="TextBox 4"/>
          <p:cNvSpPr txBox="1"/>
          <p:nvPr/>
        </p:nvSpPr>
        <p:spPr>
          <a:xfrm>
            <a:off x="6172200" y="1097280"/>
            <a:ext cx="5029200" cy="365760"/>
          </a:xfrm>
          <a:prstGeom prst="rect">
            <a:avLst/>
          </a:prstGeom>
          <a:noFill/>
        </p:spPr>
        <p:txBody>
          <a:bodyPr wrap="square">
            <a:spAutoFit/>
          </a:bodyPr>
          <a:lstStyle/>
          <a:p>
            <a:pPr algn="l">
              <a:defRPr sz="1800" b="1">
                <a:solidFill>
                  <a:srgbClr val="3182CE"/>
                </a:solidFill>
                <a:latin typeface="Calibri"/>
              </a:defRPr>
            </a:pPr>
            <a:r>
              <a:t>Right</a:t>
            </a:r>
          </a:p>
        </p:txBody>
      </p:sp>
      <p:sp>
        <p:nvSpPr>
          <p:cNvPr id="6" name="TextBox 5"/>
          <p:cNvSpPr txBox="1"/>
          <p:nvPr/>
        </p:nvSpPr>
        <p:spPr>
          <a:xfrm>
            <a:off x="6172200" y="1554480"/>
            <a:ext cx="5029200" cy="4114800"/>
          </a:xfrm>
          <a:prstGeom prst="rect">
            <a:avLst/>
          </a:prstGeom>
          <a:noFill/>
        </p:spPr>
        <p:txBody>
          <a:bodyPr wrap="square">
            <a:spAutoFit/>
          </a:bodyPr>
          <a:lstStyle/>
          <a:p>
            <a:pPr>
              <a:spcAft>
                <a:spcPts val="800"/>
              </a:spcAft>
              <a:defRPr sz="1800">
                <a:solidFill>
                  <a:srgbClr val="2D3748"/>
                </a:solidFill>
                <a:latin typeface="Calibri"/>
              </a:defRPr>
            </a:pPr>
            <a:r>
              <a:t>Job displacement</a:t>
            </a:r>
          </a:p>
          <a:p>
            <a:pPr>
              <a:spcAft>
                <a:spcPts val="800"/>
              </a:spcAft>
              <a:defRPr sz="1800">
                <a:solidFill>
                  <a:srgbClr val="2D3748"/>
                </a:solidFill>
                <a:latin typeface="Calibri"/>
              </a:defRPr>
            </a:pPr>
            <a:r>
              <a:t>Bias in decision-making</a:t>
            </a:r>
          </a:p>
          <a:p>
            <a:pPr>
              <a:spcAft>
                <a:spcPts val="800"/>
              </a:spcAft>
              <a:defRPr sz="1800">
                <a:solidFill>
                  <a:srgbClr val="2D3748"/>
                </a:solidFill>
                <a:latin typeface="Calibri"/>
              </a:defRPr>
            </a:pPr>
            <a:r>
              <a:t>Dependence on data quality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Misuse of AI</a:t>
            </a:r>
          </a:p>
        </p:txBody>
      </p:sp>
      <p:sp>
        <p:nvSpPr>
          <p:cNvPr id="3" name="TextBox 2"/>
          <p:cNvSpPr txBox="1"/>
          <p:nvPr/>
        </p:nvSpPr>
        <p:spPr>
          <a:xfrm>
            <a:off x="685800" y="1371600"/>
            <a:ext cx="10515600" cy="4572000"/>
          </a:xfrm>
          <a:prstGeom prst="rect">
            <a:avLst/>
          </a:prstGeom>
          <a:noFill/>
        </p:spPr>
        <p:txBody>
          <a:bodyPr wrap="square">
            <a:spAutoFit/>
          </a:bodyPr>
          <a:lstStyle/>
          <a:p>
            <a:pPr>
              <a:spcAft>
                <a:spcPts val="800"/>
              </a:spcAft>
              <a:defRPr sz="1800">
                <a:solidFill>
                  <a:srgbClr val="2D3748"/>
                </a:solidFill>
                <a:latin typeface="Calibri"/>
              </a:defRPr>
            </a:pPr>
            <a:r>
              <a:t>Deepfakes and disinformation</a:t>
            </a:r>
          </a:p>
          <a:p>
            <a:pPr>
              <a:spcAft>
                <a:spcPts val="800"/>
              </a:spcAft>
              <a:defRPr sz="1800">
                <a:solidFill>
                  <a:srgbClr val="2D3748"/>
                </a:solidFill>
                <a:latin typeface="Calibri"/>
              </a:defRPr>
            </a:pPr>
            <a:r>
              <a:t>Cyber attacks and data breaches</a:t>
            </a:r>
          </a:p>
          <a:p>
            <a:pPr>
              <a:spcAft>
                <a:spcPts val="800"/>
              </a:spcAft>
              <a:defRPr sz="1800">
                <a:solidFill>
                  <a:srgbClr val="2D3748"/>
                </a:solidFill>
                <a:latin typeface="Calibri"/>
              </a:defRPr>
            </a:pPr>
            <a:r>
              <a:t>Surveillance and privacy concerns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History of AI</a:t>
            </a:r>
          </a:p>
        </p:txBody>
      </p:sp>
      <p:sp>
        <p:nvSpPr>
          <p:cNvPr id="3" name="TextBox 2"/>
          <p:cNvSpPr txBox="1"/>
          <p:nvPr/>
        </p:nvSpPr>
        <p:spPr>
          <a:xfrm>
            <a:off x="685800" y="1554480"/>
            <a:ext cx="10515600" cy="4572000"/>
          </a:xfrm>
          <a:prstGeom prst="rect">
            <a:avLst/>
          </a:prstGeom>
          <a:noFill/>
        </p:spPr>
        <p:txBody>
          <a:bodyPr wrap="square">
            <a:spAutoFit/>
          </a:bodyPr>
          <a:lstStyle/>
          <a:p>
            <a:pPr>
              <a:spcAft>
                <a:spcPts val="800"/>
              </a:spcAft>
              <a:defRPr sz="1800">
                <a:solidFill>
                  <a:srgbClr val="2D3748"/>
                </a:solidFill>
                <a:latin typeface="Calibri"/>
              </a:defRPr>
            </a:pPr>
            <a:r>
              <a:t>Step 1: 1950: Dartmouth Summer Research Project</a:t>
            </a:r>
          </a:p>
          <a:p>
            <a:pPr>
              <a:spcAft>
                <a:spcPts val="800"/>
              </a:spcAft>
              <a:defRPr sz="1800">
                <a:solidFill>
                  <a:srgbClr val="2D3748"/>
                </a:solidFill>
                <a:latin typeface="Calibri"/>
              </a:defRPr>
            </a:pPr>
            <a:r>
              <a:t>Step 2: 1960: First AI program, ELIZA</a:t>
            </a:r>
          </a:p>
          <a:p>
            <a:pPr>
              <a:spcAft>
                <a:spcPts val="800"/>
              </a:spcAft>
              <a:defRPr sz="1800">
                <a:solidFill>
                  <a:srgbClr val="2D3748"/>
                </a:solidFill>
                <a:latin typeface="Calibri"/>
              </a:defRPr>
            </a:pPr>
            <a:r>
              <a:t>Step 3: 1980: Expert systems and rule-based reasoning</a:t>
            </a:r>
          </a:p>
          <a:p>
            <a:pPr>
              <a:spcAft>
                <a:spcPts val="800"/>
              </a:spcAft>
              <a:defRPr sz="1800">
                <a:solidFill>
                  <a:srgbClr val="2D3748"/>
                </a:solidFill>
                <a:latin typeface="Calibri"/>
              </a:defRPr>
            </a:pPr>
            <a:r>
              <a:t>Step 4: 2010: Deep learning and neural networks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AI in Daily Life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515600" cy="731520"/>
          </a:xfrm>
          <a:prstGeom prst="rect">
            <a:avLst/>
          </a:prstGeom>
          <a:noFill/>
        </p:spPr>
        <p:txBody>
          <a:bodyPr wrap="square">
            <a:spAutoFit/>
          </a:bodyPr>
          <a:lstStyle/>
          <a:p>
            <a:pPr algn="l">
              <a:defRPr sz="3200" b="1">
                <a:solidFill>
                  <a:srgbClr val="2C5282"/>
                </a:solidFill>
                <a:latin typeface="Calibri"/>
              </a:defRPr>
            </a:pPr>
            <a:r>
              <a:t>Conclusion</a:t>
            </a:r>
          </a:p>
        </p:txBody>
      </p:sp>
      <p:sp>
        <p:nvSpPr>
          <p:cNvPr id="3" name="TextBox 2"/>
          <p:cNvSpPr txBox="1"/>
          <p:nvPr/>
        </p:nvSpPr>
        <p:spPr>
          <a:xfrm>
            <a:off x="685800" y="1554480"/>
            <a:ext cx="10515600" cy="4572000"/>
          </a:xfrm>
          <a:prstGeom prst="rect">
            <a:avLst/>
          </a:prstGeom>
          <a:noFill/>
        </p:spPr>
        <p:txBody>
          <a:bodyPr wrap="square">
            <a:spAutoFit/>
          </a:bodyPr>
          <a:lstStyle/>
          <a:p>
            <a:pPr>
              <a:spcAft>
                <a:spcPts val="800"/>
              </a:spcAft>
              <a:defRPr sz="1800">
                <a:solidFill>
                  <a:srgbClr val="2D3748"/>
                </a:solidFill>
                <a:latin typeface="Calibri"/>
              </a:defRPr>
            </a:pPr>
            <a:r>
              <a:t>AI has the potential to revolutionize various industries and aspects of our lives.</a:t>
            </a:r>
          </a:p>
          <a:p>
            <a:pPr>
              <a:spcAft>
                <a:spcPts val="800"/>
              </a:spcAft>
              <a:defRPr sz="1800">
                <a:solidFill>
                  <a:srgbClr val="2D3748"/>
                </a:solidFill>
                <a:latin typeface="Calibri"/>
              </a:defRPr>
            </a:pPr>
            <a:r>
              <a:t>However, it is crucial to address the challenges and concerns associated with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286000"/>
            <a:ext cx="10820095" cy="1371600"/>
          </a:xfrm>
          <a:prstGeom prst="rect">
            <a:avLst/>
          </a:prstGeom>
          <a:noFill/>
        </p:spPr>
        <p:txBody>
          <a:bodyPr wrap="square">
            <a:spAutoFit/>
          </a:bodyPr>
          <a:lstStyle/>
          <a:p>
            <a:pPr algn="ctr">
              <a:defRPr sz="4400" b="1">
                <a:solidFill>
                  <a:srgbClr val="1A365D"/>
                </a:solidFill>
                <a:latin typeface="Calibri"/>
              </a:defRPr>
            </a:pPr>
            <a:r>
              <a:t>Thank You</a:t>
            </a:r>
          </a:p>
        </p:txBody>
      </p:sp>
      <p:sp>
        <p:nvSpPr>
          <p:cNvPr id="3" name="TextBox 2"/>
          <p:cNvSpPr txBox="1"/>
          <p:nvPr/>
        </p:nvSpPr>
        <p:spPr>
          <a:xfrm>
            <a:off x="685800" y="3840480"/>
            <a:ext cx="10820095" cy="914400"/>
          </a:xfrm>
          <a:prstGeom prst="rect">
            <a:avLst/>
          </a:prstGeom>
          <a:noFill/>
        </p:spPr>
        <p:txBody>
          <a:bodyPr wrap="square">
            <a:spAutoFit/>
          </a:bodyPr>
          <a:lstStyle/>
          <a:p>
            <a:pPr algn="ctr">
              <a:defRPr sz="2200" b="0">
                <a:solidFill>
                  <a:srgbClr val="3182CE"/>
                </a:solidFill>
                <a:latin typeface="Calibri"/>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