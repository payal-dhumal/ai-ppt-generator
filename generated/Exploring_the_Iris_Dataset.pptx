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begin, let's take a moment to introduce the Iris dataset, a classic example in the world of machine learning. Emphasize that this dataset is widely used for demonstrating classification techniques, and it's comprised of 50 samples from each of three species of Iris flowers. You can pause here to ask the audience if they're familiar with the dataset, or to provide a brief anecdote about its significance in the field. By starting with a well-known dataset like Iris, we can build a foundation for more complex discussions later 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take a look at our dataset, it's worth noting that the Iris dataset is a multivariate dataset, meaning it includes multiple variables or features that describe each sample. Emphasize the significance of Sir Ronald Aylmer Fisher introducing this dataset back in 1936, as it's a seminal work in the field of statistics and data analysis. When discussing the 150 samples from three species of Iris flowers, you can use this as an opportunity to highlight the diversity of the dataset and how it can be used to train and test machine learning models, for example, to classify different types of Iris flowers based on their characteristics.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take a closer look at our dataset, you'll notice it comprises 150 samples, each described by 4 distinct features, and categorized into 3 class labels. Emphasize the significance of these features, such as sepal length, sepal width, petal length, and petal width, which are all critical in distinguishing between the different classes. For example, you could highlight how the variation in petal length alone can be a strong indicator of a particular class, making it a valuable characteristic to consider in our analysis. Be sure to pause and allow the audience to absorb the key statistics, using this opportunity to preview the importance of these characteristics in the subsequent slides.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discussing iris flowers, be sure to highlight their unique characteristics, such as the distinctive shape of their petals and the wide range of colors they come in. Emphasize the fact that irises are often associated with elegance and sophistication, making them a popular choice for gardens and floral arrangements. You can also mention that irises are relatively low-maintenance and easy to care for, which makes them a great option for gardeners of all skill levels, and consider sharing a personal anecdote about a particularly beautiful iris garden you've visited.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take a look at these three iris species, notice the distinct differences between Iris setosa, Iris versicolor, and Iris virginica. Emphasize the unique characteristics of each, such as the shape and color of the flowers, to help the audience visualize and remember the variations. For example, you could point out that Iris setosa has a more delicate, smaller flower compared to the larger blooms of Iris versicolor and Iris virginica, and ask the audience to consider how these differences might impact their growth and care. By highlighting these comparisons, you can help the audience appreciate the diversity within the iris family.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take a look at the history of the Iris dataset, let's highlight the key milestones, starting with its introduction by Sir Ronald Aylmer Fisher in 1936, which marked the beginning of its significance in statistical analysis. Emphasize how the dataset gained traction in the 1950s as it was utilized in early machine learning research, laying the groundwork for its widespread adoption. You can also mention that by the 1980s, the Iris dataset had become a standard in the field of machine learning, often used as a benchmark for testing and validating new algorithms, making it a fundamental component in many educational and research contexts.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explore the applications of the Iris dataset, it's essential to highlight its significance in machine learning research, where it's often used as a benchmark to test and validate new algorithms. Emphasize how the dataset is also widely used in data mining to identify patterns and relationships between different species of iris flowers. You can also mention that pattern recognition is another key area where the Iris dataset is applied, such as in image classification and feature extraction, and provide a practical example of how this technology is used in real-world scenarios, like self-driving cars or facial recognition systems. Be sure to pause and ask the audience if they can think of other potential applications of the Iris dataset to encourage engagement and discussion.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that we've introduced our dataset, let's dive into the exploratory data analysis phase, where we'll examine the ea3b11493403.csv file to understand the characteristics of the data. As you walk through this slide, emphasize the importance of getting to know your data, highlighting any notable trends, patterns, or correlations that emerge from this initial analysis. You can also mention how exploratory data analysis helps identify potential issues, such as missing values or outliers, that may impact subsequent analysis, and provide a brief example of how this was done with the provided dataset.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let's recap the significance of the Iris dataset in machine learning, emphasizing its fundamental role in the field. As we've discussed, the characteristics and applications of this dataset make it a valuable resource for researchers and practitioners alike, so be sure to highlight its versatility and wide range of uses. For example, you could mention how the Iris dataset is often used as a benchmark for testing and evaluating new machine learning algorithms, making it a crucial tool in the development of AI systems. By emphasizing its importance and relevance, you can leave the audience with a lasting impression of the dataset's impact on the field of machine learning.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come to the end of this presentation, I want to take a moment to express my sincere gratitude to each and every one of you for your attention and engagement. Emphasize the importance of the audience's time and highlight any key takeaways or action items that you'd like them to remember. You can also use this opportunity to invite questions or provide additional resources for further learning, such as a website or follow-up meeting. By ending on a note of appreciation, you can leave a lasting positive impression on your audience.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5"/>
        </a:solidFill>
        <a:effectLst/>
      </p:bgPr>
    </p:bg>
    <p:spTree>
      <p:nvGrpSpPr>
        <p:cNvPr id="1" name=""/>
        <p:cNvGrpSpPr/>
        <p:nvPr/>
      </p:nvGrpSpPr>
      <p:grpSpPr/>
      <p:sp>
        <p:nvSpPr>
          <p:cNvPr id="2" name="TextBox 1"/>
          <p:cNvSpPr txBox="1"/>
          <p:nvPr/>
        </p:nvSpPr>
        <p:spPr>
          <a:xfrm>
            <a:off x="685800" y="1828800"/>
            <a:ext cx="10820095" cy="1371600"/>
          </a:xfrm>
          <a:prstGeom prst="rect">
            <a:avLst/>
          </a:prstGeom>
          <a:noFill/>
        </p:spPr>
        <p:txBody>
          <a:bodyPr wrap="square">
            <a:spAutoFit/>
          </a:bodyPr>
          <a:lstStyle/>
          <a:p>
            <a:pPr algn="ctr">
              <a:defRPr sz="4200" b="1">
                <a:solidFill>
                  <a:srgbClr val="1B4332"/>
                </a:solidFill>
                <a:latin typeface="Times New Roman"/>
              </a:defRPr>
            </a:pPr>
            <a:r>
              <a:t>Introduction to the Iris Dataset</a:t>
            </a:r>
          </a:p>
        </p:txBody>
      </p:sp>
      <p:sp>
        <p:nvSpPr>
          <p:cNvPr id="3" name="TextBox 2"/>
          <p:cNvSpPr txBox="1"/>
          <p:nvPr/>
        </p:nvSpPr>
        <p:spPr>
          <a:xfrm>
            <a:off x="685800" y="3474720"/>
            <a:ext cx="10820095" cy="914400"/>
          </a:xfrm>
          <a:prstGeom prst="rect">
            <a:avLst/>
          </a:prstGeom>
          <a:noFill/>
        </p:spPr>
        <p:txBody>
          <a:bodyPr wrap="square">
            <a:spAutoFit/>
          </a:bodyPr>
          <a:lstStyle/>
          <a:p>
            <a:pPr algn="ctr">
              <a:defRPr sz="2000" b="0">
                <a:solidFill>
                  <a:srgbClr val="40916C"/>
                </a:solidFill>
                <a:latin typeface="Times New Roman"/>
              </a:defRPr>
            </a:pPr>
            <a:r>
              <a:t>A Comprehensive Overview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5"/>
        </a:solidFill>
        <a:effectLst/>
      </p:bgPr>
    </p:bg>
    <p:spTree>
      <p:nvGrpSpPr>
        <p:cNvPr id="1" name=""/>
        <p:cNvGrpSpPr/>
        <p:nvPr/>
      </p:nvGrpSpPr>
      <p:grpSpPr/>
      <p:sp>
        <p:nvSpPr>
          <p:cNvPr id="2" name="TextBox 1"/>
          <p:cNvSpPr txBox="1"/>
          <p:nvPr/>
        </p:nvSpPr>
        <p:spPr>
          <a:xfrm>
            <a:off x="685800" y="457200"/>
            <a:ext cx="10515600" cy="731520"/>
          </a:xfrm>
          <a:prstGeom prst="rect">
            <a:avLst/>
          </a:prstGeom>
          <a:noFill/>
        </p:spPr>
        <p:txBody>
          <a:bodyPr wrap="square">
            <a:spAutoFit/>
          </a:bodyPr>
          <a:lstStyle/>
          <a:p>
            <a:pPr algn="l">
              <a:defRPr sz="3000" b="1">
                <a:solidFill>
                  <a:srgbClr val="2D6A4F"/>
                </a:solidFill>
                <a:latin typeface="Times New Roman"/>
              </a:defRPr>
            </a:pPr>
            <a:r>
              <a:t>Dataset Overview</a:t>
            </a:r>
          </a:p>
        </p:txBody>
      </p:sp>
      <p:sp>
        <p:nvSpPr>
          <p:cNvPr id="3" name="TextBox 2"/>
          <p:cNvSpPr txBox="1"/>
          <p:nvPr/>
        </p:nvSpPr>
        <p:spPr>
          <a:xfrm>
            <a:off x="685800" y="1371600"/>
            <a:ext cx="10515600" cy="4572000"/>
          </a:xfrm>
          <a:prstGeom prst="rect">
            <a:avLst/>
          </a:prstGeom>
          <a:noFill/>
        </p:spPr>
        <p:txBody>
          <a:bodyPr wrap="square">
            <a:spAutoFit/>
          </a:bodyPr>
          <a:lstStyle/>
          <a:p>
            <a:pPr>
              <a:spcAft>
                <a:spcPts val="800"/>
              </a:spcAft>
              <a:defRPr sz="1800">
                <a:solidFill>
                  <a:srgbClr val="344E41"/>
                </a:solidFill>
                <a:latin typeface="Times New Roman"/>
              </a:defRPr>
            </a:pPr>
            <a:r>
              <a:t>The Iris dataset is a multivariate dataset</a:t>
            </a:r>
          </a:p>
          <a:p>
            <a:pPr>
              <a:spcAft>
                <a:spcPts val="800"/>
              </a:spcAft>
              <a:defRPr sz="1800">
                <a:solidFill>
                  <a:srgbClr val="344E41"/>
                </a:solidFill>
                <a:latin typeface="Times New Roman"/>
              </a:defRPr>
            </a:pPr>
            <a:r>
              <a:t>Introduced by Sir Ronald Aylmer Fisher in 1936</a:t>
            </a:r>
          </a:p>
          <a:p>
            <a:pPr>
              <a:spcAft>
                <a:spcPts val="800"/>
              </a:spcAft>
              <a:defRPr sz="1800">
                <a:solidFill>
                  <a:srgbClr val="344E41"/>
                </a:solidFill>
                <a:latin typeface="Times New Roman"/>
              </a:defRPr>
            </a:pPr>
            <a:r>
              <a:t>Comprises 150 samples from three species of Iris flowers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5"/>
        </a:solidFill>
        <a:effectLst/>
      </p:bgPr>
    </p:bg>
    <p:spTree>
      <p:nvGrpSpPr>
        <p:cNvPr id="1" name=""/>
        <p:cNvGrpSpPr/>
        <p:nvPr/>
      </p:nvGrpSpPr>
      <p:grpSpPr/>
      <p:sp>
        <p:nvSpPr>
          <p:cNvPr id="2" name="TextBox 1"/>
          <p:cNvSpPr txBox="1"/>
          <p:nvPr/>
        </p:nvSpPr>
        <p:spPr>
          <a:xfrm>
            <a:off x="685800" y="457200"/>
            <a:ext cx="10515600" cy="731520"/>
          </a:xfrm>
          <a:prstGeom prst="rect">
            <a:avLst/>
          </a:prstGeom>
          <a:noFill/>
        </p:spPr>
        <p:txBody>
          <a:bodyPr wrap="square">
            <a:spAutoFit/>
          </a:bodyPr>
          <a:lstStyle/>
          <a:p>
            <a:pPr algn="l">
              <a:defRPr sz="3000" b="1">
                <a:solidFill>
                  <a:srgbClr val="2D6A4F"/>
                </a:solidFill>
                <a:latin typeface="Times New Roman"/>
              </a:defRPr>
            </a:pPr>
            <a:r>
              <a:t>Dataset Characteristics</a:t>
            </a:r>
          </a:p>
        </p:txBody>
      </p:sp>
      <p:sp>
        <p:nvSpPr>
          <p:cNvPr id="3" name="TextBox 2"/>
          <p:cNvSpPr txBox="1"/>
          <p:nvPr/>
        </p:nvSpPr>
        <p:spPr>
          <a:xfrm>
            <a:off x="685800" y="1554480"/>
            <a:ext cx="5029200" cy="4572000"/>
          </a:xfrm>
          <a:prstGeom prst="rect">
            <a:avLst/>
          </a:prstGeom>
          <a:noFill/>
        </p:spPr>
        <p:txBody>
          <a:bodyPr wrap="square">
            <a:spAutoFit/>
          </a:bodyPr>
          <a:lstStyle/>
          <a:p>
            <a:pPr>
              <a:spcAft>
                <a:spcPts val="800"/>
              </a:spcAft>
              <a:defRPr sz="1800">
                <a:solidFill>
                  <a:srgbClr val="344E41"/>
                </a:solidFill>
                <a:latin typeface="Times New Roman"/>
              </a:defRPr>
            </a:pPr>
            <a:r>
              <a:t>Number of samples: 150</a:t>
            </a:r>
          </a:p>
          <a:p>
            <a:pPr>
              <a:spcAft>
                <a:spcPts val="800"/>
              </a:spcAft>
              <a:defRPr sz="1800">
                <a:solidFill>
                  <a:srgbClr val="344E41"/>
                </a:solidFill>
                <a:latin typeface="Times New Roman"/>
              </a:defRPr>
            </a:pPr>
            <a:r>
              <a:t>Number of features: 4</a:t>
            </a:r>
          </a:p>
          <a:p>
            <a:pPr>
              <a:spcAft>
                <a:spcPts val="800"/>
              </a:spcAft>
              <a:defRPr sz="1800">
                <a:solidFill>
                  <a:srgbClr val="344E41"/>
                </a:solidFill>
                <a:latin typeface="Times New Roman"/>
              </a:defRPr>
            </a:pPr>
            <a:r>
              <a:t>Class labels: 3</a:t>
            </a:r>
          </a:p>
        </p:txBody>
      </p:sp>
      <p:sp>
        <p:nvSpPr>
          <p:cNvPr id="4" name="TextBox 3"/>
          <p:cNvSpPr txBox="1"/>
          <p:nvPr/>
        </p:nvSpPr>
        <p:spPr>
          <a:xfrm>
            <a:off x="6172200" y="1554480"/>
            <a:ext cx="5029200" cy="4572000"/>
          </a:xfrm>
          <a:prstGeom prst="rect">
            <a:avLst/>
          </a:prstGeom>
          <a:noFill/>
        </p:spPr>
        <p:txBody>
          <a:bodyPr wrap="square">
            <a:spAutoFit/>
          </a:bodyPr>
          <a:lstStyle/>
          <a:p>
            <a:pPr>
              <a:spcAft>
                <a:spcPts val="800"/>
              </a:spcAft>
              <a:defRPr sz="1800">
                <a:solidFill>
                  <a:srgbClr val="344E41"/>
                </a:solidFill>
                <a:latin typeface="Times New Roman"/>
              </a:defRPr>
            </a:pPr>
            <a:r>
              <a:t>Petal length</a:t>
            </a:r>
          </a:p>
          <a:p>
            <a:pPr>
              <a:spcAft>
                <a:spcPts val="800"/>
              </a:spcAft>
              <a:defRPr sz="1800">
                <a:solidFill>
                  <a:srgbClr val="344E41"/>
                </a:solidFill>
                <a:latin typeface="Times New Roman"/>
              </a:defRPr>
            </a:pPr>
            <a:r>
              <a:t>Petal width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5"/>
        </a:solidFill>
        <a:effectLst/>
      </p:bgPr>
    </p:bg>
    <p:spTree>
      <p:nvGrpSpPr>
        <p:cNvPr id="1" name=""/>
        <p:cNvGrpSpPr/>
        <p:nvPr/>
      </p:nvGrpSpPr>
      <p:grpSpPr/>
      <p:sp>
        <p:nvSpPr>
          <p:cNvPr id="2" name="TextBox 1"/>
          <p:cNvSpPr txBox="1"/>
          <p:nvPr/>
        </p:nvSpPr>
        <p:spPr>
          <a:xfrm>
            <a:off x="685800" y="457200"/>
            <a:ext cx="10515600" cy="731520"/>
          </a:xfrm>
          <a:prstGeom prst="rect">
            <a:avLst/>
          </a:prstGeom>
          <a:noFill/>
        </p:spPr>
        <p:txBody>
          <a:bodyPr wrap="square">
            <a:spAutoFit/>
          </a:bodyPr>
          <a:lstStyle/>
          <a:p>
            <a:pPr algn="l">
              <a:defRPr sz="3000" b="1">
                <a:solidFill>
                  <a:srgbClr val="2D6A4F"/>
                </a:solidFill>
                <a:latin typeface="Times New Roman"/>
              </a:defRPr>
            </a:pPr>
            <a:r>
              <a:t>Iris Flowers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5"/>
        </a:solidFill>
        <a:effectLst/>
      </p:bgPr>
    </p:bg>
    <p:spTree>
      <p:nvGrpSpPr>
        <p:cNvPr id="1" name=""/>
        <p:cNvGrpSpPr/>
        <p:nvPr/>
      </p:nvGrpSpPr>
      <p:grpSpPr/>
      <p:sp>
        <p:nvSpPr>
          <p:cNvPr id="2" name="TextBox 1"/>
          <p:cNvSpPr txBox="1"/>
          <p:nvPr/>
        </p:nvSpPr>
        <p:spPr>
          <a:xfrm>
            <a:off x="685800" y="457200"/>
            <a:ext cx="10515600" cy="731520"/>
          </a:xfrm>
          <a:prstGeom prst="rect">
            <a:avLst/>
          </a:prstGeom>
          <a:noFill/>
        </p:spPr>
        <p:txBody>
          <a:bodyPr wrap="square">
            <a:spAutoFit/>
          </a:bodyPr>
          <a:lstStyle/>
          <a:p>
            <a:pPr algn="l">
              <a:defRPr sz="3000" b="1">
                <a:solidFill>
                  <a:srgbClr val="2D6A4F"/>
                </a:solidFill>
                <a:latin typeface="Times New Roman"/>
              </a:defRPr>
            </a:pPr>
            <a:r>
              <a:t>Comparison of Iris Species</a:t>
            </a:r>
          </a:p>
        </p:txBody>
      </p:sp>
      <p:sp>
        <p:nvSpPr>
          <p:cNvPr id="3" name="TextBox 2"/>
          <p:cNvSpPr txBox="1"/>
          <p:nvPr/>
        </p:nvSpPr>
        <p:spPr>
          <a:xfrm>
            <a:off x="685800" y="1097280"/>
            <a:ext cx="5029200" cy="365760"/>
          </a:xfrm>
          <a:prstGeom prst="rect">
            <a:avLst/>
          </a:prstGeom>
          <a:noFill/>
        </p:spPr>
        <p:txBody>
          <a:bodyPr wrap="square">
            <a:spAutoFit/>
          </a:bodyPr>
          <a:lstStyle/>
          <a:p>
            <a:pPr algn="l">
              <a:defRPr sz="1800" b="1">
                <a:solidFill>
                  <a:srgbClr val="40916C"/>
                </a:solidFill>
                <a:latin typeface="Times New Roman"/>
              </a:defRPr>
            </a:pPr>
            <a:r>
              <a:t>Left</a:t>
            </a:r>
          </a:p>
        </p:txBody>
      </p:sp>
      <p:sp>
        <p:nvSpPr>
          <p:cNvPr id="4" name="TextBox 3"/>
          <p:cNvSpPr txBox="1"/>
          <p:nvPr/>
        </p:nvSpPr>
        <p:spPr>
          <a:xfrm>
            <a:off x="685800" y="1554480"/>
            <a:ext cx="5029200" cy="4114800"/>
          </a:xfrm>
          <a:prstGeom prst="rect">
            <a:avLst/>
          </a:prstGeom>
          <a:noFill/>
        </p:spPr>
        <p:txBody>
          <a:bodyPr wrap="square">
            <a:spAutoFit/>
          </a:bodyPr>
          <a:lstStyle/>
          <a:p>
            <a:pPr>
              <a:spcAft>
                <a:spcPts val="800"/>
              </a:spcAft>
              <a:defRPr sz="1800">
                <a:solidFill>
                  <a:srgbClr val="344E41"/>
                </a:solidFill>
                <a:latin typeface="Times New Roman"/>
              </a:defRPr>
            </a:pPr>
            <a:r>
              <a:t>Iris setosa</a:t>
            </a:r>
          </a:p>
          <a:p>
            <a:pPr>
              <a:spcAft>
                <a:spcPts val="800"/>
              </a:spcAft>
              <a:defRPr sz="1800">
                <a:solidFill>
                  <a:srgbClr val="344E41"/>
                </a:solidFill>
                <a:latin typeface="Times New Roman"/>
              </a:defRPr>
            </a:pPr>
            <a:r>
              <a:t>Iris versicolor</a:t>
            </a:r>
          </a:p>
        </p:txBody>
      </p:sp>
      <p:sp>
        <p:nvSpPr>
          <p:cNvPr id="5" name="TextBox 4"/>
          <p:cNvSpPr txBox="1"/>
          <p:nvPr/>
        </p:nvSpPr>
        <p:spPr>
          <a:xfrm>
            <a:off x="6172200" y="1097280"/>
            <a:ext cx="5029200" cy="365760"/>
          </a:xfrm>
          <a:prstGeom prst="rect">
            <a:avLst/>
          </a:prstGeom>
          <a:noFill/>
        </p:spPr>
        <p:txBody>
          <a:bodyPr wrap="square">
            <a:spAutoFit/>
          </a:bodyPr>
          <a:lstStyle/>
          <a:p>
            <a:pPr algn="l">
              <a:defRPr sz="1800" b="1">
                <a:solidFill>
                  <a:srgbClr val="40916C"/>
                </a:solidFill>
                <a:latin typeface="Times New Roman"/>
              </a:defRPr>
            </a:pPr>
            <a:r>
              <a:t>Right</a:t>
            </a:r>
          </a:p>
        </p:txBody>
      </p:sp>
      <p:sp>
        <p:nvSpPr>
          <p:cNvPr id="6" name="TextBox 5"/>
          <p:cNvSpPr txBox="1"/>
          <p:nvPr/>
        </p:nvSpPr>
        <p:spPr>
          <a:xfrm>
            <a:off x="6172200" y="1554480"/>
            <a:ext cx="5029200" cy="4114800"/>
          </a:xfrm>
          <a:prstGeom prst="rect">
            <a:avLst/>
          </a:prstGeom>
          <a:noFill/>
        </p:spPr>
        <p:txBody>
          <a:bodyPr wrap="square">
            <a:spAutoFit/>
          </a:bodyPr>
          <a:lstStyle/>
          <a:p>
            <a:pPr>
              <a:spcAft>
                <a:spcPts val="800"/>
              </a:spcAft>
              <a:defRPr sz="1800">
                <a:solidFill>
                  <a:srgbClr val="344E41"/>
                </a:solidFill>
                <a:latin typeface="Times New Roman"/>
              </a:defRPr>
            </a:pPr>
            <a:r>
              <a:t>Iris virginica</a:t>
            </a:r>
          </a:p>
          <a:p>
            <a:pPr>
              <a:spcAft>
                <a:spcPts val="800"/>
              </a:spcAft>
              <a:defRPr sz="1800">
                <a:solidFill>
                  <a:srgbClr val="344E41"/>
                </a:solidFill>
                <a:latin typeface="Times New Roman"/>
              </a:defRPr>
            </a:pPr>
            <a:r>
              <a:t>Comparison of characteristics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5"/>
        </a:solidFill>
        <a:effectLst/>
      </p:bgPr>
    </p:bg>
    <p:spTree>
      <p:nvGrpSpPr>
        <p:cNvPr id="1" name=""/>
        <p:cNvGrpSpPr/>
        <p:nvPr/>
      </p:nvGrpSpPr>
      <p:grpSpPr/>
      <p:sp>
        <p:nvSpPr>
          <p:cNvPr id="2" name="TextBox 1"/>
          <p:cNvSpPr txBox="1"/>
          <p:nvPr/>
        </p:nvSpPr>
        <p:spPr>
          <a:xfrm>
            <a:off x="685800" y="457200"/>
            <a:ext cx="10515600" cy="731520"/>
          </a:xfrm>
          <a:prstGeom prst="rect">
            <a:avLst/>
          </a:prstGeom>
          <a:noFill/>
        </p:spPr>
        <p:txBody>
          <a:bodyPr wrap="square">
            <a:spAutoFit/>
          </a:bodyPr>
          <a:lstStyle/>
          <a:p>
            <a:pPr algn="l">
              <a:defRPr sz="3000" b="1">
                <a:solidFill>
                  <a:srgbClr val="2D6A4F"/>
                </a:solidFill>
                <a:latin typeface="Times New Roman"/>
              </a:defRPr>
            </a:pPr>
            <a:r>
              <a:t>History of the Iris Dataset</a:t>
            </a:r>
          </a:p>
        </p:txBody>
      </p:sp>
      <p:sp>
        <p:nvSpPr>
          <p:cNvPr id="3" name="TextBox 2"/>
          <p:cNvSpPr txBox="1"/>
          <p:nvPr/>
        </p:nvSpPr>
        <p:spPr>
          <a:xfrm>
            <a:off x="685800" y="1554480"/>
            <a:ext cx="10515600" cy="4572000"/>
          </a:xfrm>
          <a:prstGeom prst="rect">
            <a:avLst/>
          </a:prstGeom>
          <a:noFill/>
        </p:spPr>
        <p:txBody>
          <a:bodyPr wrap="square">
            <a:spAutoFit/>
          </a:bodyPr>
          <a:lstStyle/>
          <a:p>
            <a:pPr>
              <a:spcAft>
                <a:spcPts val="800"/>
              </a:spcAft>
              <a:defRPr sz="1800">
                <a:solidFill>
                  <a:srgbClr val="344E41"/>
                </a:solidFill>
                <a:latin typeface="Times New Roman"/>
              </a:defRPr>
            </a:pPr>
            <a:r>
              <a:t>Step 1: 1936: Introduced by Sir Ronald Aylmer Fisher</a:t>
            </a:r>
          </a:p>
          <a:p>
            <a:pPr>
              <a:spcAft>
                <a:spcPts val="800"/>
              </a:spcAft>
              <a:defRPr sz="1800">
                <a:solidFill>
                  <a:srgbClr val="344E41"/>
                </a:solidFill>
                <a:latin typeface="Times New Roman"/>
              </a:defRPr>
            </a:pPr>
            <a:r>
              <a:t>Step 2: 1950s: Used in early machine learning research</a:t>
            </a:r>
          </a:p>
          <a:p>
            <a:pPr>
              <a:spcAft>
                <a:spcPts val="800"/>
              </a:spcAft>
              <a:defRPr sz="1800">
                <a:solidFill>
                  <a:srgbClr val="344E41"/>
                </a:solidFill>
                <a:latin typeface="Times New Roman"/>
              </a:defRPr>
            </a:pPr>
            <a:r>
              <a:t>Step 3: 1980s: Became a standard dataset in machine learning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5"/>
        </a:solidFill>
        <a:effectLst/>
      </p:bgPr>
    </p:bg>
    <p:spTree>
      <p:nvGrpSpPr>
        <p:cNvPr id="1" name=""/>
        <p:cNvGrpSpPr/>
        <p:nvPr/>
      </p:nvGrpSpPr>
      <p:grpSpPr/>
      <p:sp>
        <p:nvSpPr>
          <p:cNvPr id="2" name="TextBox 1"/>
          <p:cNvSpPr txBox="1"/>
          <p:nvPr/>
        </p:nvSpPr>
        <p:spPr>
          <a:xfrm>
            <a:off x="685800" y="457200"/>
            <a:ext cx="10515600" cy="731520"/>
          </a:xfrm>
          <a:prstGeom prst="rect">
            <a:avLst/>
          </a:prstGeom>
          <a:noFill/>
        </p:spPr>
        <p:txBody>
          <a:bodyPr wrap="square">
            <a:spAutoFit/>
          </a:bodyPr>
          <a:lstStyle/>
          <a:p>
            <a:pPr algn="l">
              <a:defRPr sz="3000" b="1">
                <a:solidFill>
                  <a:srgbClr val="2D6A4F"/>
                </a:solidFill>
                <a:latin typeface="Times New Roman"/>
              </a:defRPr>
            </a:pPr>
            <a:r>
              <a:t>Applications of the Iris Dataset</a:t>
            </a:r>
          </a:p>
        </p:txBody>
      </p:sp>
      <p:sp>
        <p:nvSpPr>
          <p:cNvPr id="3" name="TextBox 2"/>
          <p:cNvSpPr txBox="1"/>
          <p:nvPr/>
        </p:nvSpPr>
        <p:spPr>
          <a:xfrm>
            <a:off x="685800" y="1371600"/>
            <a:ext cx="10515600" cy="4572000"/>
          </a:xfrm>
          <a:prstGeom prst="rect">
            <a:avLst/>
          </a:prstGeom>
          <a:noFill/>
        </p:spPr>
        <p:txBody>
          <a:bodyPr wrap="square">
            <a:spAutoFit/>
          </a:bodyPr>
          <a:lstStyle/>
          <a:p>
            <a:pPr>
              <a:spcAft>
                <a:spcPts val="800"/>
              </a:spcAft>
              <a:defRPr sz="1800">
                <a:solidFill>
                  <a:srgbClr val="344E41"/>
                </a:solidFill>
                <a:latin typeface="Times New Roman"/>
              </a:defRPr>
            </a:pPr>
            <a:r>
              <a:t>Machine learning research</a:t>
            </a:r>
          </a:p>
          <a:p>
            <a:pPr>
              <a:spcAft>
                <a:spcPts val="800"/>
              </a:spcAft>
              <a:defRPr sz="1800">
                <a:solidFill>
                  <a:srgbClr val="344E41"/>
                </a:solidFill>
                <a:latin typeface="Times New Roman"/>
              </a:defRPr>
            </a:pPr>
            <a:r>
              <a:t>Data mining</a:t>
            </a:r>
          </a:p>
          <a:p>
            <a:pPr>
              <a:spcAft>
                <a:spcPts val="800"/>
              </a:spcAft>
              <a:defRPr sz="1800">
                <a:solidFill>
                  <a:srgbClr val="344E41"/>
                </a:solidFill>
                <a:latin typeface="Times New Roman"/>
              </a:defRPr>
            </a:pPr>
            <a:r>
              <a:t>Pattern recognition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5"/>
        </a:solidFill>
        <a:effectLst/>
      </p:bgPr>
    </p:bg>
    <p:spTree>
      <p:nvGrpSpPr>
        <p:cNvPr id="1" name=""/>
        <p:cNvGrpSpPr/>
        <p:nvPr/>
      </p:nvGrpSpPr>
      <p:grpSpPr/>
      <p:sp>
        <p:nvSpPr>
          <p:cNvPr id="2" name="TextBox 1"/>
          <p:cNvSpPr txBox="1"/>
          <p:nvPr/>
        </p:nvSpPr>
        <p:spPr>
          <a:xfrm>
            <a:off x="685800" y="457200"/>
            <a:ext cx="10515600" cy="731520"/>
          </a:xfrm>
          <a:prstGeom prst="rect">
            <a:avLst/>
          </a:prstGeom>
          <a:noFill/>
        </p:spPr>
        <p:txBody>
          <a:bodyPr wrap="square">
            <a:spAutoFit/>
          </a:bodyPr>
          <a:lstStyle/>
          <a:p>
            <a:pPr algn="l">
              <a:defRPr sz="3000" b="1">
                <a:solidFill>
                  <a:srgbClr val="2D6A4F"/>
                </a:solidFill>
                <a:latin typeface="Times New Roman"/>
              </a:defRPr>
            </a:pPr>
            <a:r>
              <a:t>Exploratory Data Analysis</a:t>
            </a:r>
          </a:p>
        </p:txBody>
      </p:sp>
      <p:sp>
        <p:nvSpPr>
          <p:cNvPr id="3" name="TextBox 2"/>
          <p:cNvSpPr txBox="1"/>
          <p:nvPr/>
        </p:nvSpPr>
        <p:spPr>
          <a:xfrm>
            <a:off x="685800" y="5486400"/>
            <a:ext cx="10515600" cy="914400"/>
          </a:xfrm>
          <a:prstGeom prst="rect">
            <a:avLst/>
          </a:prstGeom>
          <a:noFill/>
        </p:spPr>
        <p:txBody>
          <a:bodyPr wrap="square">
            <a:spAutoFit/>
          </a:bodyPr>
          <a:lstStyle/>
          <a:p>
            <a:pPr>
              <a:spcAft>
                <a:spcPts val="800"/>
              </a:spcAft>
              <a:defRPr sz="1800">
                <a:solidFill>
                  <a:srgbClr val="344E41"/>
                </a:solidFill>
                <a:latin typeface="Times New Roman"/>
              </a:defRPr>
            </a:pPr>
            <a:r>
              <a:t>ea3b11493403.csv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5"/>
        </a:solidFill>
        <a:effectLst/>
      </p:bgPr>
    </p:bg>
    <p:spTree>
      <p:nvGrpSpPr>
        <p:cNvPr id="1" name=""/>
        <p:cNvGrpSpPr/>
        <p:nvPr/>
      </p:nvGrpSpPr>
      <p:grpSpPr/>
      <p:sp>
        <p:nvSpPr>
          <p:cNvPr id="2" name="TextBox 1"/>
          <p:cNvSpPr txBox="1"/>
          <p:nvPr/>
        </p:nvSpPr>
        <p:spPr>
          <a:xfrm>
            <a:off x="685800" y="457200"/>
            <a:ext cx="10515600" cy="731520"/>
          </a:xfrm>
          <a:prstGeom prst="rect">
            <a:avLst/>
          </a:prstGeom>
          <a:noFill/>
        </p:spPr>
        <p:txBody>
          <a:bodyPr wrap="square">
            <a:spAutoFit/>
          </a:bodyPr>
          <a:lstStyle/>
          <a:p>
            <a:pPr algn="l">
              <a:defRPr sz="3000" b="1">
                <a:solidFill>
                  <a:srgbClr val="2D6A4F"/>
                </a:solidFill>
                <a:latin typeface="Times New Roman"/>
              </a:defRPr>
            </a:pPr>
            <a:r>
              <a:t>Conclusion</a:t>
            </a:r>
          </a:p>
        </p:txBody>
      </p:sp>
      <p:sp>
        <p:nvSpPr>
          <p:cNvPr id="3" name="TextBox 2"/>
          <p:cNvSpPr txBox="1"/>
          <p:nvPr/>
        </p:nvSpPr>
        <p:spPr>
          <a:xfrm>
            <a:off x="685800" y="1554480"/>
            <a:ext cx="10515600" cy="4572000"/>
          </a:xfrm>
          <a:prstGeom prst="rect">
            <a:avLst/>
          </a:prstGeom>
          <a:noFill/>
        </p:spPr>
        <p:txBody>
          <a:bodyPr wrap="square">
            <a:spAutoFit/>
          </a:bodyPr>
          <a:lstStyle/>
          <a:p>
            <a:pPr>
              <a:spcAft>
                <a:spcPts val="800"/>
              </a:spcAft>
              <a:defRPr sz="1800">
                <a:solidFill>
                  <a:srgbClr val="344E41"/>
                </a:solidFill>
                <a:latin typeface="Times New Roman"/>
              </a:defRPr>
            </a:pPr>
            <a:r>
              <a:t>The Iris dataset is a fundamental dataset in machine learning</a:t>
            </a:r>
          </a:p>
          <a:p>
            <a:pPr>
              <a:spcAft>
                <a:spcPts val="800"/>
              </a:spcAft>
              <a:defRPr sz="1800">
                <a:solidFill>
                  <a:srgbClr val="344E41"/>
                </a:solidFill>
                <a:latin typeface="Times New Roman"/>
              </a:defRPr>
            </a:pPr>
            <a:r>
              <a:t>Its characteristics and applications make it a valuable resource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5"/>
        </a:solidFill>
        <a:effectLst/>
      </p:bgPr>
    </p:bg>
    <p:spTree>
      <p:nvGrpSpPr>
        <p:cNvPr id="1" name=""/>
        <p:cNvGrpSpPr/>
        <p:nvPr/>
      </p:nvGrpSpPr>
      <p:grpSpPr/>
      <p:sp>
        <p:nvSpPr>
          <p:cNvPr id="2" name="TextBox 1"/>
          <p:cNvSpPr txBox="1"/>
          <p:nvPr/>
        </p:nvSpPr>
        <p:spPr>
          <a:xfrm>
            <a:off x="685800" y="2286000"/>
            <a:ext cx="10820095" cy="1371600"/>
          </a:xfrm>
          <a:prstGeom prst="rect">
            <a:avLst/>
          </a:prstGeom>
          <a:noFill/>
        </p:spPr>
        <p:txBody>
          <a:bodyPr wrap="square">
            <a:spAutoFit/>
          </a:bodyPr>
          <a:lstStyle/>
          <a:p>
            <a:pPr algn="ctr">
              <a:defRPr sz="4200" b="1">
                <a:solidFill>
                  <a:srgbClr val="1B4332"/>
                </a:solidFill>
                <a:latin typeface="Times New Roman"/>
              </a:defRPr>
            </a:pPr>
            <a:r>
              <a:t>Thank You</a:t>
            </a:r>
          </a:p>
        </p:txBody>
      </p:sp>
      <p:sp>
        <p:nvSpPr>
          <p:cNvPr id="3" name="TextBox 2"/>
          <p:cNvSpPr txBox="1"/>
          <p:nvPr/>
        </p:nvSpPr>
        <p:spPr>
          <a:xfrm>
            <a:off x="685800" y="3840480"/>
            <a:ext cx="10820095" cy="914400"/>
          </a:xfrm>
          <a:prstGeom prst="rect">
            <a:avLst/>
          </a:prstGeom>
          <a:noFill/>
        </p:spPr>
        <p:txBody>
          <a:bodyPr wrap="square">
            <a:spAutoFit/>
          </a:bodyPr>
          <a:lstStyle/>
          <a:p>
            <a:pPr algn="ctr">
              <a:defRPr sz="2000" b="0">
                <a:solidFill>
                  <a:srgbClr val="40916C"/>
                </a:solidFill>
                <a:latin typeface="Times New Roman"/>
              </a:defRPr>
            </a:pPr>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